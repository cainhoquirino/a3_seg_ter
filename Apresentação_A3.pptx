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Colaboradores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Até 3.000</c:v>
                </c:pt>
                <c:pt idx="1">
                  <c:v>3.001–5.000</c:v>
                </c:pt>
                <c:pt idx="2">
                  <c:v>5.001–8.000</c:v>
                </c:pt>
                <c:pt idx="3">
                  <c:v>8.001–12.000</c:v>
                </c:pt>
                <c:pt idx="4">
                  <c:v>Acima de 12.000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395</c:v>
                </c:pt>
                <c:pt idx="1">
                  <c:v>354</c:v>
                </c:pt>
                <c:pt idx="2">
                  <c:v>340</c:v>
                </c:pt>
                <c:pt idx="3">
                  <c:v>186</c:v>
                </c:pt>
                <c:pt idx="4">
                  <c:v>195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72-4E43-AEB9-029A22EB66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Colaboradores</c:v>
                </c:pt>
              </c:strCache>
            </c:strRef>
          </c:tx>
          <c:spPr>
            <a:solidFill>
              <a:srgbClr val="0B3D5C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18–25</c:v>
                </c:pt>
                <c:pt idx="1">
                  <c:v>26–35</c:v>
                </c:pt>
                <c:pt idx="2">
                  <c:v>36–45</c:v>
                </c:pt>
                <c:pt idx="3">
                  <c:v>46–55</c:v>
                </c:pt>
                <c:pt idx="4">
                  <c:v>56–65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8.3699999999999992</c:v>
                </c:pt>
                <c:pt idx="1">
                  <c:v>41.22</c:v>
                </c:pt>
                <c:pt idx="2">
                  <c:v>31.84</c:v>
                </c:pt>
                <c:pt idx="3">
                  <c:v>15.37</c:v>
                </c:pt>
                <c:pt idx="4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9F-4D6F-AD8F-5A2E66653D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Salário médio (USD)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E9E-4834-A3BD-D3C6B13243F6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E9E-4834-A3BD-D3C6B13243F6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E9E-4834-A3BD-D3C6B13243F6}"/>
              </c:ext>
            </c:extLst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E9E-4834-A3BD-D3C6B13243F6}"/>
              </c:ext>
            </c:extLst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E9E-4834-A3BD-D3C6B13243F6}"/>
              </c:ext>
            </c:extLst>
          </c:dPt>
          <c:dPt>
            <c:idx val="5"/>
            <c:invertIfNegative val="0"/>
            <c:bubble3D val="0"/>
            <c:spPr>
              <a:solidFill>
                <a:srgbClr val="F2A6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E9E-4834-A3BD-D3C6B13243F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Luxemburgo</c:v>
                </c:pt>
                <c:pt idx="1">
                  <c:v>EUA</c:v>
                </c:pt>
                <c:pt idx="2">
                  <c:v>Holanda</c:v>
                </c:pt>
                <c:pt idx="3">
                  <c:v>Bélgica</c:v>
                </c:pt>
                <c:pt idx="4">
                  <c:v>Áustria</c:v>
                </c:pt>
                <c:pt idx="5">
                  <c:v>Brasil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98530</c:v>
                </c:pt>
                <c:pt idx="1">
                  <c:v>86977</c:v>
                </c:pt>
                <c:pt idx="2">
                  <c:v>80136</c:v>
                </c:pt>
                <c:pt idx="3">
                  <c:v>80009</c:v>
                </c:pt>
                <c:pt idx="4">
                  <c:v>78301</c:v>
                </c:pt>
                <c:pt idx="5">
                  <c:v>24463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E9E-4834-A3BD-D3C6B13243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733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0292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rápida: o projeto é um Data Warehouse de People Analytics focado em turnover — entender o que leva um colaborador a pedir demissão. Isso não é só uma questão de RH, impacta operação e custo. Público-alvo: diretoria e gestores. Mencionar rapidamente a base de dados oficial (IBM HR Analytics, via Kaggle) e o contexto do ranking salarial do Brasil.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não é falta de dados, é falta de conexão entre eles: base interna de RH, mercado brasileiro oficial (IBGE) e benchmark internacional vivem isolados. Isso gera risco de desalinhamento salarial e decisões de RH menos embasadas.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slide-chave: mostrar visualmente o fluxo problema → dados → engenharia → solução → benefício. Reforçar que a solução não é sobre um dashboard bonito, é sobre conectar fontes que hoje vivem isoladas.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IBM traz o olhar interno de uma empresa (cargos, salários, idade, attrition). IBGE traz o mercado brasileiro oficial por ocupação e estado. As duas se conectam por uma tabela De-Para de cargos que o squad construiu manualmente. Os rankings internacionais entram como benchmark complementar por país, sem chave direta com os dados individuais.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leituras que preparam a análise de turnover: primeiro, a base interna IBM tem mais colaboradores concentrados nas faixas salariais mais baixas — potencial fator de atrito. Segundo, a força de trabalho é jovem, 41% entre 26 e 35 anos, faixa historicamente mais propensa a trocar de emprego. Terceiro: o Brasil aparece em último lugar entre os 30 países do ranking de salário médio, contexto que reforça por que comparar salário interno com o mercado (o join do escopo) é tão relevante para entender saídas.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arquitetura segue o pipeline do escopo: fontes, extração e transformação em Python já concluídas. Carga e modelagem em Star Schema no SQL Server, com Fato de ocorrências e Dimensões de cargo, setor e região, além da governança de acesso (gestores veem só sua área, diretoria vê tudo), ainda são etapas planejadas.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enxuta e coerente com um projeto de engenharia de dados em fase de ETL: Python com pandas e numpy, requests para consumir a API do IBGE, kagglehub para baixar a base da IBM, tudo rodando em notebook, com Excel como fonte extra dos rankings internacionais.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Coleta, ETL e a modelagem De-Para de cargos já estão concluídas, evidenciadas no notebook do squad. Armazenamento, dashboard final e a apresentação em si ainda dependem de datas a confirmar com o professor e o cronograma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apresentar a equipe — Guedes (fontes), Andresa (extração em Python), Bruno (tratamento), Caio (SQL/Data Warehouse) e Pedro (integração, acessos e apresentação) — e os próximos passos: implementar o Star Schema no SQL Server, cruzar salário interno com o de mercado, criar os perfis de acesso e testar o fluxo completo. Encerrar com a frase de propósito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F2A65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81160" y="4069080"/>
            <a:ext cx="384048" cy="822960"/>
          </a:xfrm>
          <a:prstGeom prst="roundRect">
            <a:avLst>
              <a:gd name="adj" fmla="val 11905"/>
            </a:avLst>
          </a:prstGeom>
          <a:solidFill>
            <a:srgbClr val="6FA8C0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1512" y="3520440"/>
            <a:ext cx="384048" cy="1371600"/>
          </a:xfrm>
          <a:prstGeom prst="roundRect">
            <a:avLst>
              <a:gd name="adj" fmla="val 11905"/>
            </a:avLst>
          </a:prstGeom>
          <a:solidFill>
            <a:srgbClr val="6FA8C0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3886200"/>
            <a:ext cx="384048" cy="1005840"/>
          </a:xfrm>
          <a:prstGeom prst="roundRect">
            <a:avLst>
              <a:gd name="adj" fmla="val 11905"/>
            </a:avLst>
          </a:prstGeom>
          <a:solidFill>
            <a:srgbClr val="6FA8C0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2971800"/>
            <a:ext cx="384048" cy="1920240"/>
          </a:xfrm>
          <a:prstGeom prst="roundRect">
            <a:avLst>
              <a:gd name="adj" fmla="val 11905"/>
            </a:avLst>
          </a:prstGeom>
          <a:solidFill>
            <a:srgbClr val="6FA8C0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2423160"/>
            <a:ext cx="384048" cy="2468880"/>
          </a:xfrm>
          <a:prstGeom prst="roundRect">
            <a:avLst>
              <a:gd name="adj" fmla="val 11905"/>
            </a:avLst>
          </a:prstGeom>
          <a:solidFill>
            <a:srgbClr val="F2A6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A3 · ENGENHARIA DE DADOS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2801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 para People Analytics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Entendendo o atrito de colaboradores (turnover) cruzando dados internos de RH com a realidade do mercado.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72237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FA8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47472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quem: </a:t>
            </a:r>
            <a:r>
              <a:rPr lang="en-US" sz="13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e gestores de RH que precisam reduzir gastos com rescisões e melhorar o engajamento do time com decisões data-driven.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57200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30º de 30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posição do Brasil no ranking internacional de salário médio, o pano de fundo que motiva olhar remuneração com mais dados.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577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Tema: People Analytics · Base: IBM HR Analytics Employee Attrition &amp; Performance (Kaggle, CSV)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Turnover: uma dor real, sem visão de dados unificada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B3D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025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identificado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que leva um bom colaborador a pedir demissão não é só questão de RH — a retenção de talentos é uma dor real em qualquer grande empresa e impacta direto a operação.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011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B3D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0025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afetado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5603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diretoria (custo e estratégia), os gestores de área (equipes desfalcadas) e os próprios colaboradores (equidade salarial e engajamento).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519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B3D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2428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Consequência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00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elevados com rescisões, perda de talentos e decisões de RH tomadas sem cruzar dados internos com a realidade do mercado.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023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2519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B3D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42428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Oportunidade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800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uma visão macro cruzando dados internos da empresa (IBM) com a realidade do mercado, para decisões data-driven que reduzam turnover.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A3 · Engenharia de Dados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CENTRAL DA SOLUÇÃO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dados dispersos a decisões que reduzem o turnover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1012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sem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dados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32888" y="3328416"/>
            <a:ext cx="347472" cy="201168"/>
          </a:xfrm>
          <a:prstGeom prst="rightArrow">
            <a:avLst/>
          </a:prstGeom>
          <a:solidFill>
            <a:srgbClr val="C7D2D8"/>
          </a:solidFill>
          <a:ln/>
        </p:spPr>
      </p:sp>
      <p:sp>
        <p:nvSpPr>
          <p:cNvPr id="8" name="Shape 6"/>
          <p:cNvSpPr/>
          <p:nvPr/>
        </p:nvSpPr>
        <p:spPr>
          <a:xfrm>
            <a:off x="2898648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98648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331012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(interno) ·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(API) · Rankings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91456" y="3328416"/>
            <a:ext cx="347472" cy="201168"/>
          </a:xfrm>
          <a:prstGeom prst="rightArrow">
            <a:avLst/>
          </a:prstGeom>
          <a:solidFill>
            <a:srgbClr val="C7D2D8"/>
          </a:solidFill>
          <a:ln/>
        </p:spPr>
      </p:sp>
      <p:sp>
        <p:nvSpPr>
          <p:cNvPr id="12" name="Shape 10"/>
          <p:cNvSpPr/>
          <p:nvPr/>
        </p:nvSpPr>
        <p:spPr>
          <a:xfrm>
            <a:off x="5157216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6FA8C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57216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ENGENHARIA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48656" y="331012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ETL, Star Schema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carga no DW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50024" y="3328416"/>
            <a:ext cx="347472" cy="201168"/>
          </a:xfrm>
          <a:prstGeom prst="rightArrow">
            <a:avLst/>
          </a:prstGeom>
          <a:solidFill>
            <a:srgbClr val="C7D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7415784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D986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15784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507224" y="331012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Analytics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08592" y="3328416"/>
            <a:ext cx="347472" cy="201168"/>
          </a:xfrm>
          <a:prstGeom prst="rightArrow">
            <a:avLst/>
          </a:prstGeom>
          <a:solidFill>
            <a:srgbClr val="C7D2D8"/>
          </a:solidFill>
          <a:ln/>
        </p:spPr>
      </p:sp>
      <p:sp>
        <p:nvSpPr>
          <p:cNvPr id="20" name="Shape 18"/>
          <p:cNvSpPr/>
          <p:nvPr/>
        </p:nvSpPr>
        <p:spPr>
          <a:xfrm>
            <a:off x="9674352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2A6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74352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331012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rescisões,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engajamento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57200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squad cruza o salário atual do colaborador (IBM) com a média salarial de mercado (API) dentro de um Data Warehouse, para responder: o que está associado à decisão de sair da empresa?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A3 · Engenharia de Dados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NOSSOS DADOS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fontes, um objetivo comum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55648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0B3D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HR Analytics Employee Attrition &amp; Performance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16352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CSV · 1.470 colaboradores, 35 colunas</a:t>
            </a:r>
            <a:endParaRPr lang="en-US" sz="103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JobRole, MonthlyIncome, Age, Attrition, Department, satisfação, distância do trabalho</a:t>
            </a:r>
            <a:endParaRPr lang="en-US" sz="103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estática que simula a exportação de um sistema real de RH da empresa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416552" y="155448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755648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17556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19456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SIDRA/IBGE — PNADC (API pública)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816352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médio por Estado e ocupação (2022)</a:t>
            </a:r>
            <a:endParaRPr lang="en-US" sz="103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grupos ocupacionais após padronização</a:t>
            </a:r>
            <a:endParaRPr lang="en-US" sz="103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a 'média salarial do mercado por região' citada no escopo do projeto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284464" y="155448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13064" y="1755648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D986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13064" y="17556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513064" y="219456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Planilha — Rankings internacionais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513064" y="2816352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países · Custo do trabalho (pontos) e Salário médio anual (USD), 2022</a:t>
            </a:r>
            <a:endParaRPr lang="en-US" sz="103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Finalidade: benchmark global complementar para posicionar o Brasil</a:t>
            </a:r>
            <a:endParaRPr lang="en-US" sz="103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fontes se conectam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0B3D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892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404104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404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03120" y="5084064"/>
            <a:ext cx="457200" cy="256032"/>
          </a:xfrm>
          <a:prstGeom prst="line">
            <a:avLst/>
          </a:prstGeom>
          <a:noFill/>
          <a:ln w="19050">
            <a:solidFill>
              <a:srgbClr val="AAB8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03120" y="5596128"/>
            <a:ext cx="457200" cy="0"/>
          </a:xfrm>
          <a:prstGeom prst="line">
            <a:avLst/>
          </a:prstGeom>
          <a:noFill/>
          <a:ln w="19050">
            <a:solidFill>
              <a:srgbClr val="AAB8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5148072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B273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560320" y="51480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Chave: Cargo (id_cargo)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08076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D9863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60807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286000" y="61173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complementar por país · sem chave direta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001000" y="48463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e IBGE </a:t>
            </a: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conectam-se por uma tabela De-Para de cargos (id_cargo) e pelo cruzamento salário atual (IBM) x salário médio regional (IBGE/API) — o coração analítico do escopo do projeto. </a:t>
            </a:r>
            <a:r>
              <a:rPr lang="en-US" sz="1100" b="1" dirty="0">
                <a:solidFill>
                  <a:srgbClr val="D98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internacionais </a:t>
            </a: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 como contexto complementar por país.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A3 · Engenharia de Dados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INSIGHTS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dados já mostram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faixa salarial — base IBM (n = 1.470)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920240"/>
          <a:ext cx="60350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72084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etária — base IBM (%)</a:t>
            </a:r>
            <a:endParaRPr lang="en-US" sz="125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629400" y="1920240"/>
          <a:ext cx="50292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médio anual — ranking internacional, 2022 (USD)</a:t>
            </a:r>
            <a:endParaRPr lang="en-US" sz="1250" dirty="0"/>
          </a:p>
        </p:txBody>
      </p:sp>
      <p:graphicFrame>
        <p:nvGraphicFramePr>
          <p:cNvPr id="9" name="Chart 2"/>
          <p:cNvGraphicFramePr/>
          <p:nvPr/>
        </p:nvGraphicFramePr>
        <p:xfrm>
          <a:off x="457200" y="4617720"/>
          <a:ext cx="74980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8366760" y="429768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0B3D5C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595360" y="44622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30º de 30</a:t>
            </a:r>
            <a:endParaRPr lang="en-US" sz="2600" dirty="0"/>
          </a:p>
        </p:txBody>
      </p:sp>
      <p:sp>
        <p:nvSpPr>
          <p:cNvPr id="12" name="Text 7"/>
          <p:cNvSpPr txBox="1"/>
          <p:nvPr/>
        </p:nvSpPr>
        <p:spPr>
          <a:xfrm>
            <a:off x="8595360" y="5010912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do Brasil no ranking de salário médio entre os 30 países da base — cerca de 32% abaixo do penúltimo colocado (Grécia).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A3 · Engenharia de Dados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E ARQUITETURA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atual do fluxo de dados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61772" y="2103120"/>
            <a:ext cx="175564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3292" y="223113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93292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16636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16636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IBM (Kaggle),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IBGE, Excel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26564" y="2761488"/>
            <a:ext cx="128016" cy="146304"/>
          </a:xfrm>
          <a:prstGeom prst="rightArrow">
            <a:avLst/>
          </a:prstGeom>
          <a:solidFill>
            <a:srgbClr val="C7D2D8"/>
          </a:solidFill>
          <a:ln/>
        </p:spPr>
      </p:sp>
      <p:sp>
        <p:nvSpPr>
          <p:cNvPr id="10" name="Shape 8"/>
          <p:cNvSpPr/>
          <p:nvPr/>
        </p:nvSpPr>
        <p:spPr>
          <a:xfrm>
            <a:off x="2363724" y="2103120"/>
            <a:ext cx="175564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95244" y="223113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95244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418588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Extração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418588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(CSV, Excel, API)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28516" y="2761488"/>
            <a:ext cx="128016" cy="146304"/>
          </a:xfrm>
          <a:prstGeom prst="rightArrow">
            <a:avLst/>
          </a:prstGeom>
          <a:solidFill>
            <a:srgbClr val="C7D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4265676" y="2103120"/>
            <a:ext cx="175564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97196" y="223113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97196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32054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Transformação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32054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limpeza, padronização,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salário x mercado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30468" y="2761488"/>
            <a:ext cx="128016" cy="146304"/>
          </a:xfrm>
          <a:prstGeom prst="rightArrow">
            <a:avLst/>
          </a:prstGeom>
          <a:solidFill>
            <a:srgbClr val="C7D2D8"/>
          </a:solidFill>
          <a:ln/>
        </p:spPr>
      </p:sp>
      <p:sp>
        <p:nvSpPr>
          <p:cNvPr id="22" name="Shape 20"/>
          <p:cNvSpPr/>
          <p:nvPr/>
        </p:nvSpPr>
        <p:spPr>
          <a:xfrm>
            <a:off x="6167628" y="2103120"/>
            <a:ext cx="175564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B9C4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99148" y="2231136"/>
            <a:ext cx="292608" cy="292608"/>
          </a:xfrm>
          <a:prstGeom prst="ellipse">
            <a:avLst/>
          </a:prstGeom>
          <a:solidFill>
            <a:srgbClr val="B9C4C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99148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22492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&amp; Modelagem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222492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· Star Schema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+ Dimensões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932420" y="2761488"/>
            <a:ext cx="128016" cy="146304"/>
          </a:xfrm>
          <a:prstGeom prst="rightArrow">
            <a:avLst/>
          </a:prstGeom>
          <a:solidFill>
            <a:srgbClr val="C7D2D8"/>
          </a:solidFill>
          <a:ln/>
        </p:spPr>
      </p:sp>
      <p:sp>
        <p:nvSpPr>
          <p:cNvPr id="28" name="Shape 26"/>
          <p:cNvSpPr/>
          <p:nvPr/>
        </p:nvSpPr>
        <p:spPr>
          <a:xfrm>
            <a:off x="8069580" y="2103120"/>
            <a:ext cx="175564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B9C4C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01100" y="2231136"/>
            <a:ext cx="292608" cy="292608"/>
          </a:xfrm>
          <a:prstGeom prst="ellipse">
            <a:avLst/>
          </a:prstGeom>
          <a:solidFill>
            <a:srgbClr val="B9C4C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801100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124444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Governança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124444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acesso: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vs. diretoria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834372" y="2761488"/>
            <a:ext cx="128016" cy="146304"/>
          </a:xfrm>
          <a:prstGeom prst="rightArrow">
            <a:avLst/>
          </a:prstGeom>
          <a:solidFill>
            <a:srgbClr val="C7D2D8"/>
          </a:solidFill>
          <a:ln/>
        </p:spPr>
      </p:sp>
      <p:sp>
        <p:nvSpPr>
          <p:cNvPr id="34" name="Shape 32"/>
          <p:cNvSpPr/>
          <p:nvPr/>
        </p:nvSpPr>
        <p:spPr>
          <a:xfrm>
            <a:off x="9971532" y="2103120"/>
            <a:ext cx="175564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B9C4C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03052" y="2231136"/>
            <a:ext cx="292608" cy="292608"/>
          </a:xfrm>
          <a:prstGeom prst="ellipse">
            <a:avLst/>
          </a:prstGeom>
          <a:solidFill>
            <a:srgbClr val="B9C4C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703052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026396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 / Usuário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0026396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final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1772" y="393192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36092" y="3895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839212" y="3931920"/>
            <a:ext cx="201168" cy="201168"/>
          </a:xfrm>
          <a:prstGeom prst="ellipse">
            <a:avLst/>
          </a:prstGeom>
          <a:solidFill>
            <a:srgbClr val="D9863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113532" y="3895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216652" y="3931920"/>
            <a:ext cx="201168" cy="201168"/>
          </a:xfrm>
          <a:prstGeom prst="ellipse">
            <a:avLst/>
          </a:prstGeom>
          <a:solidFill>
            <a:srgbClr val="B9C4C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490972" y="3895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1772" y="4892040"/>
            <a:ext cx="1126540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36092" y="5010912"/>
            <a:ext cx="10716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 planejado: </a:t>
            </a: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no SQL Server, com uma Tabela Fato central de ocorrências (saídas e avaliações) e Tabelas Dimensão de cargos, setores e dados regionais. Extração e transformação já estão concluídas em Python/Pandas; carga, governança e a camada final de solução ainda são planejadas.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A3 · Engenharia de Dados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utilizadas pelo squad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562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50008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principal do projeto: extração, tratamento, transformação e análise de 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16552" y="16916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8928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02352" y="18562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/ numpy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350008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Limpeza, padronização, criação de faixas etárias e salariais, e das tabelas dimensão de cargo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84464" y="16916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5632" y="18928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85632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70264" y="18562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pública (IBGE/SIDRA)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2350008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Consumida via requests para trazer a média salarial de mercado por região/ocupação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36499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5661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5295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kagglehub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02336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programático do dataset IBM HR Analytics (CSV) diretamente do Kaggle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16552" y="336499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35661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02352" y="35295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 — Star Schema  [Planejado]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02336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com Tabela Fato de ocorrências e Dimensões de cargo, setor e região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84464" y="336499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85632" y="35661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85632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970264" y="35295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 / Jupyter Notebook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485632" y="402336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desenvolvimento e execução do pipeline de ETL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A3 · Engenharia de Dados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MACRO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Etapas, entregáveis e marcos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17320" y="3246120"/>
            <a:ext cx="9354312" cy="0"/>
          </a:xfrm>
          <a:prstGeom prst="line">
            <a:avLst/>
          </a:prstGeom>
          <a:noFill/>
          <a:ln w="25400">
            <a:solidFill>
              <a:srgbClr val="C7D2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1016" y="3099816"/>
            <a:ext cx="292608" cy="29260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71016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17320" y="2788920"/>
            <a:ext cx="0" cy="310896"/>
          </a:xfrm>
          <a:prstGeom prst="line">
            <a:avLst/>
          </a:prstGeom>
          <a:noFill/>
          <a:ln w="12700">
            <a:solidFill>
              <a:srgbClr val="C7D2D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45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Extração (Extract)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IBM via Kaggle + API pública de salário por região, em Python/Pandas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41878" y="3099816"/>
            <a:ext cx="292608" cy="29260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4187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88182" y="3392424"/>
            <a:ext cx="0" cy="310896"/>
          </a:xfrm>
          <a:prstGeom prst="line">
            <a:avLst/>
          </a:prstGeom>
          <a:noFill/>
          <a:ln w="12700">
            <a:solidFill>
              <a:srgbClr val="C7D2D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419502" y="370332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10942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Transformação (Transform)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510942" y="4251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Limpeza, padronização e join salário atual x média regional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12741" y="3099816"/>
            <a:ext cx="292608" cy="29260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12741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59045" y="2788920"/>
            <a:ext cx="0" cy="310896"/>
          </a:xfrm>
          <a:prstGeom prst="line">
            <a:avLst/>
          </a:prstGeom>
          <a:noFill/>
          <a:ln w="12700">
            <a:solidFill>
              <a:srgbClr val="C7D2D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290365" y="155448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81805" y="1645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Modelagem De-Para de cargos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381805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dimensão de cargo (id_cargo) para IBM e IBGE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83603" y="3099816"/>
            <a:ext cx="292608" cy="292608"/>
          </a:xfrm>
          <a:prstGeom prst="ellipse">
            <a:avLst/>
          </a:prstGeom>
          <a:solidFill>
            <a:srgbClr val="B9C4C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83603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29907" y="3392424"/>
            <a:ext cx="0" cy="310896"/>
          </a:xfrm>
          <a:prstGeom prst="line">
            <a:avLst/>
          </a:prstGeom>
          <a:noFill/>
          <a:ln w="12700">
            <a:solidFill>
              <a:srgbClr val="C7D2D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161227" y="370332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52667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(Load) e Star Schema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252667" y="4251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Server: Fato de ocorrências + Dimensões 22/09]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754466" y="3099816"/>
            <a:ext cx="292608" cy="292608"/>
          </a:xfrm>
          <a:prstGeom prst="ellipse">
            <a:avLst/>
          </a:prstGeom>
          <a:solidFill>
            <a:srgbClr val="B9C4C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54466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00770" y="2788920"/>
            <a:ext cx="0" cy="310896"/>
          </a:xfrm>
          <a:prstGeom prst="line">
            <a:avLst/>
          </a:prstGeom>
          <a:noFill/>
          <a:ln w="12700">
            <a:solidFill>
              <a:srgbClr val="C7D2D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8032090" y="155448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23530" y="1645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Governança e perfis de acesso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12353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segurança: gestor vs. diretoria · 27/10 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625328" y="3099816"/>
            <a:ext cx="292608" cy="292608"/>
          </a:xfrm>
          <a:prstGeom prst="ellipse">
            <a:avLst/>
          </a:prstGeom>
          <a:solidFill>
            <a:srgbClr val="B9C4C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6253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771632" y="3392424"/>
            <a:ext cx="0" cy="310896"/>
          </a:xfrm>
          <a:prstGeom prst="line">
            <a:avLst/>
          </a:prstGeom>
          <a:noFill/>
          <a:ln w="12700">
            <a:solidFill>
              <a:srgbClr val="C7D2D8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9902952" y="370332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994392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Apresentação final do squad, projeto BI e a documentação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994392" y="4251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/>
              <a:t>01/12 </a:t>
            </a:r>
          </a:p>
        </p:txBody>
      </p:sp>
      <p:sp>
        <p:nvSpPr>
          <p:cNvPr id="41" name="Text 3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A3 · Engenharia de Dados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E PRÓXIMOS PASSOS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somos e para onde vamos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901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Guedes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215798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e Coleta — identifica fontes, coleta e documenta a origem dos dados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548640" y="250545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505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Andresa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27249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Extração — leitura de CSV, Excel e API com Pandas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035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Bruno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32918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/ Transformação — limpeza, padronização e junção das fontes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548640" y="363931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3602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Caio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38587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Data Warehouse — banco, tabelas, relacionamentos e carga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4169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078992" y="442569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/ Usuários / Apresentação — perfis de acesso, testes e documentação</a:t>
            </a:r>
            <a:endParaRPr lang="en-US" sz="97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195681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63640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656832" y="18836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o Star Schema no MySQL(Tabela Fato de ocorrências + Dimensões)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263640" y="252374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63640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656832" y="24505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o join entre salário atual (IBM) e média salarial regional (API) para cruzar com Attrition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263640" y="309067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63640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656832" y="3017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os perfis de acesso: gestores/coordenadores restritos à própria área, diretoria com acesso total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6263640" y="36576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6364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656832" y="35844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 fluxo completo e validar a carga correta dos dados no Data Warehouse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6263640" y="422452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263640" y="4224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656832" y="415137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a documentação final e ensaiar a apresentação do squad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por que as pessoas saem é o primeiro passo para fazê-las ficar — com dados, não intuição.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1748</Words>
  <Application>Microsoft Office PowerPoint</Application>
  <PresentationFormat>Widescreen</PresentationFormat>
  <Paragraphs>200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Pedro Henrique Garcia Bronzeri</cp:lastModifiedBy>
  <cp:revision>3</cp:revision>
  <dcterms:created xsi:type="dcterms:W3CDTF">2026-09-02T22:43:50Z</dcterms:created>
  <dcterms:modified xsi:type="dcterms:W3CDTF">2026-09-02T23:30:08Z</dcterms:modified>
</cp:coreProperties>
</file>